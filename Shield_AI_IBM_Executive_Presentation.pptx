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2926080" cy="320040"/>
          </a:xfrm>
          <a:prstGeom prst="roundRect">
            <a:avLst/>
          </a:prstGeom>
          <a:solidFill>
            <a:srgbClr val="1A2035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AUTONOMOUS SOC SECURITY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Shield-AI : VertexGuard</a:t>
            </a:r>
          </a:p>
          <a:p>
            <a:pPr>
              <a:spcBef>
                <a:spcPts val="800"/>
              </a:spcBef>
              <a:defRPr sz="2000">
                <a:solidFill>
                  <a:srgbClr val="A855F7"/>
                </a:solidFill>
                <a:latin typeface="Arial"/>
              </a:defRPr>
            </a:pPr>
            <a:r>
              <a:t>Autonomous AI Threat Detection, Real-Time Heuristics &amp; Adaptive Incident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9CA3AF"/>
                </a:solidFill>
              </a:defRPr>
            </a:pPr>
            <a:r>
              <a:t>Designed to fundamentally shift the cybersecurity advantage from attackers to enterprise defenders. Shield-AI combines high-throughput asynchronous telemetry ingestion, AI-driven risk scoring, and sub-second remediation capabilities engineered for next-generation IBM Security &amp; Enterprise SOC environments.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389120"/>
            <a:ext cx="3383280" cy="1280160"/>
          </a:xfrm>
          <a:prstGeom prst="roundRect">
            <a:avLst/>
          </a:prstGeom>
          <a:solidFill>
            <a:srgbClr val="13192B"/>
          </a:solidFill>
          <a:ln w="12700">
            <a:solidFill>
              <a:srgbClr val="26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526280"/>
            <a:ext cx="3017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6B6D4"/>
                </a:solidFill>
              </a:defRPr>
            </a:pPr>
            <a:r>
              <a:t>Sub-Second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Autonomous Mitigation Dispatch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8264" y="4389120"/>
            <a:ext cx="3383280" cy="1280160"/>
          </a:xfrm>
          <a:prstGeom prst="roundRect">
            <a:avLst/>
          </a:prstGeom>
          <a:solidFill>
            <a:srgbClr val="13192B"/>
          </a:solidFill>
          <a:ln w="12700">
            <a:solidFill>
              <a:srgbClr val="26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81144" y="4526280"/>
            <a:ext cx="3017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ECC8C"/>
                </a:solidFill>
              </a:defRPr>
            </a:pPr>
            <a:r>
              <a:t>0 - 1000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Dynamic Heuristic Risk Scoring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4389120"/>
            <a:ext cx="3383280" cy="1280160"/>
          </a:xfrm>
          <a:prstGeom prst="roundRect">
            <a:avLst/>
          </a:prstGeom>
          <a:solidFill>
            <a:srgbClr val="13192B"/>
          </a:solidFill>
          <a:ln w="12700">
            <a:solidFill>
              <a:srgbClr val="26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4526280"/>
            <a:ext cx="3017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855F7"/>
                </a:solidFill>
              </a:defRPr>
            </a:pPr>
            <a:r>
              <a:t>Zero Backend Latency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Asynchronous Modular Monolith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Presented to: IBM Leadership &amp; Security Architecture Board  |  Project: Shield-AI (github.com/SATYAMYADAV435/Sheild-AI)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IBM EXECUTIVE BRIEFING | SHIELD-AI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The Critical Crisis in Enterprise Cyber Defense: Why Speed Is Everything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6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114800"/>
          </a:xfrm>
          <a:prstGeom prst="roundRect">
            <a:avLst/>
          </a:prstGeom>
          <a:solidFill>
            <a:srgbClr val="13192B"/>
          </a:solidFill>
          <a:ln w="12700">
            <a:solidFill>
              <a:srgbClr val="26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828800"/>
            <a:ext cx="2926080" cy="548640"/>
          </a:xfrm>
          <a:prstGeom prst="roundRect">
            <a:avLst/>
          </a:prstGeom>
          <a:solidFill>
            <a:srgbClr val="1C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EECC8C"/>
                </a:solidFill>
              </a:defRPr>
            </a:pPr>
            <a:r>
              <a:t>70% Uninvestigated Alerts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6032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The Alert Fatigue Crisis</a:t>
            </a:r>
          </a:p>
          <a:p>
            <a:pPr>
              <a:lnSpc>
                <a:spcPct val="130000"/>
              </a:lnSpc>
              <a:defRPr sz="1200">
                <a:solidFill>
                  <a:srgbClr val="9CA3AF"/>
                </a:solidFill>
              </a:defRPr>
            </a:pPr>
            <a:r>
              <a:t>Modern SOCs receive over 10,000+ daily security alerts. 70% of enterprise alerts go uninvestigated due to manual triage bottlenecks, leaving critical lateral movement undetected.</a:t>
            </a:r>
          </a:p>
          <a:p>
            <a:pPr>
              <a:spcBef>
                <a:spcPts val="1400"/>
              </a:spcBef>
              <a:defRPr sz="1100" b="1">
                <a:solidFill>
                  <a:srgbClr val="A855F7"/>
                </a:solidFill>
              </a:defRPr>
            </a:pPr>
            <a:r>
              <a:t>Shield-AI Solution: Autonomous detection with AI confidence rating and zero-touch response.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8264" y="1554480"/>
            <a:ext cx="3383280" cy="4114800"/>
          </a:xfrm>
          <a:prstGeom prst="roundRect">
            <a:avLst/>
          </a:prstGeom>
          <a:solidFill>
            <a:srgbClr val="13192B"/>
          </a:solidFill>
          <a:ln w="19050">
            <a:solidFill>
              <a:srgbClr val="A363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26864" y="1828800"/>
            <a:ext cx="2926080" cy="548640"/>
          </a:xfrm>
          <a:prstGeom prst="roundRect">
            <a:avLst/>
          </a:prstGeom>
          <a:solidFill>
            <a:srgbClr val="1C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A36361"/>
                </a:solidFill>
              </a:defRPr>
            </a:pPr>
            <a:r>
              <a:t>287 Days Avg MTTR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56032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Asymmetric Attacker Speed</a:t>
            </a:r>
          </a:p>
          <a:p>
            <a:pPr>
              <a:lnSpc>
                <a:spcPct val="130000"/>
              </a:lnSpc>
              <a:defRPr sz="1200">
                <a:solidFill>
                  <a:srgbClr val="9CA3AF"/>
                </a:solidFill>
              </a:defRPr>
            </a:pPr>
            <a:r>
              <a:t>Sophisticated zero-day exploits (e.g., Stuxnet, Code Red, polymorphic ransomware) execute payload delivery in milliseconds. Human-dependent response chains (MTTR: 287 days) are fatally obsolete.</a:t>
            </a:r>
          </a:p>
          <a:p>
            <a:pPr>
              <a:spcBef>
                <a:spcPts val="1400"/>
              </a:spcBef>
              <a:defRPr sz="1100" b="1">
                <a:solidFill>
                  <a:srgbClr val="A855F7"/>
                </a:solidFill>
              </a:defRPr>
            </a:pPr>
            <a:r>
              <a:t>Shield-AI Solution: Autonomous detection with AI confidence rating and zero-touch response.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554480"/>
            <a:ext cx="3383280" cy="4114800"/>
          </a:xfrm>
          <a:prstGeom prst="roundRect">
            <a:avLst/>
          </a:prstGeom>
          <a:solidFill>
            <a:srgbClr val="13192B"/>
          </a:solidFill>
          <a:ln w="12700">
            <a:solidFill>
              <a:srgbClr val="26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93608" y="1828800"/>
            <a:ext cx="2926080" cy="548640"/>
          </a:xfrm>
          <a:prstGeom prst="roundRect">
            <a:avLst/>
          </a:prstGeom>
          <a:solidFill>
            <a:srgbClr val="1C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$4.45M Avg Breach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8" y="256032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Fragmented Point Solutions</a:t>
            </a:r>
          </a:p>
          <a:p>
            <a:pPr>
              <a:lnSpc>
                <a:spcPct val="130000"/>
              </a:lnSpc>
              <a:defRPr sz="1200">
                <a:solidFill>
                  <a:srgbClr val="9CA3AF"/>
                </a:solidFill>
              </a:defRPr>
            </a:pPr>
            <a:r>
              <a:t>Siloed firewalls, endpoint agents, and log collectors lack unified real-time feedback loops, resulting in delayed correlation, compliance blind spots, and catastrophic data exfiltration.</a:t>
            </a:r>
          </a:p>
          <a:p>
            <a:pPr>
              <a:spcBef>
                <a:spcPts val="1400"/>
              </a:spcBef>
              <a:defRPr sz="1100" b="1">
                <a:solidFill>
                  <a:srgbClr val="A855F7"/>
                </a:solidFill>
              </a:defRPr>
            </a:pPr>
            <a:r>
              <a:t>Shield-AI Solution: Autonomous detection with AI confidence rating and zero-touch response.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Source: IBM Cost of a Data Breach Report &amp; Industry Cybersecurity Benchmarks.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CODEBASE ARCHITECTURE &amp; BACKEND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Architecture &amp; Codebase Deep Dive: Enterprise Modular Monolith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6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468880" cy="3291840"/>
          </a:xfrm>
          <a:prstGeom prst="roundRect">
            <a:avLst/>
          </a:prstGeom>
          <a:solidFill>
            <a:srgbClr val="13192B"/>
          </a:solidFill>
          <a:ln>
            <a:solidFill>
              <a:srgbClr val="26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2468880" cy="73152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API Gateway &amp; LifeCycle</a:t>
            </a:r>
          </a:p>
          <a:p>
            <a:pPr>
              <a:spcAft>
                <a:spcPts val="800"/>
              </a:spcAft>
              <a:defRPr sz="1000">
                <a:solidFill>
                  <a:srgbClr val="0F62FE"/>
                </a:solidFill>
                <a:latin typeface="Courier New"/>
              </a:defRPr>
            </a:pPr>
            <a:r>
              <a:t>backend/main.py</a:t>
            </a:r>
          </a:p>
          <a:p>
            <a:pPr>
              <a:spcBef>
                <a:spcPts val="300"/>
              </a:spcBef>
              <a:defRPr sz="1000">
                <a:solidFill>
                  <a:srgbClr val="9CA3AF"/>
                </a:solidFill>
              </a:defRPr>
            </a:pPr>
            <a:r>
              <a:t>• FastAPI Asynchronous Engine</a:t>
            </a:r>
          </a:p>
          <a:p>
            <a:pPr>
              <a:spcBef>
                <a:spcPts val="300"/>
              </a:spcBef>
              <a:defRPr sz="1000">
                <a:solidFill>
                  <a:srgbClr val="9CA3AF"/>
                </a:solidFill>
              </a:defRPr>
            </a:pPr>
            <a:r>
              <a:t>• CORS Middleware (Port 3000/8000)</a:t>
            </a:r>
          </a:p>
          <a:p>
            <a:pPr>
              <a:spcBef>
                <a:spcPts val="300"/>
              </a:spcBef>
              <a:defRPr sz="1000">
                <a:solidFill>
                  <a:srgbClr val="9CA3AF"/>
                </a:solidFill>
              </a:defRPr>
            </a:pPr>
            <a:r>
              <a:t>• Lifespan event db creation</a:t>
            </a:r>
          </a:p>
          <a:p>
            <a:pPr>
              <a:spcBef>
                <a:spcPts val="300"/>
              </a:spcBef>
              <a:defRPr sz="1000">
                <a:solidFill>
                  <a:srgbClr val="9CA3AF"/>
                </a:solidFill>
              </a:defRPr>
            </a:pPr>
            <a:r>
              <a:t>• Health check &amp; OpenAPI specs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3864" y="1554480"/>
            <a:ext cx="2468880" cy="3291840"/>
          </a:xfrm>
          <a:prstGeom prst="roundRect">
            <a:avLst/>
          </a:prstGeom>
          <a:solidFill>
            <a:srgbClr val="13192B"/>
          </a:solidFill>
          <a:ln>
            <a:solidFill>
              <a:srgbClr val="26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83864" y="1554480"/>
            <a:ext cx="2468880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21024" y="173736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Data Schema &amp; Validation</a:t>
            </a:r>
          </a:p>
          <a:p>
            <a:pPr>
              <a:spcAft>
                <a:spcPts val="800"/>
              </a:spcAft>
              <a:defRPr sz="1000">
                <a:solidFill>
                  <a:srgbClr val="A855F7"/>
                </a:solidFill>
                <a:latin typeface="Courier New"/>
              </a:defRPr>
            </a:pPr>
            <a:r>
              <a:t>backend/schemas.py</a:t>
            </a:r>
          </a:p>
          <a:p>
            <a:pPr>
              <a:spcBef>
                <a:spcPts val="300"/>
              </a:spcBef>
              <a:defRPr sz="1000">
                <a:solidFill>
                  <a:srgbClr val="9CA3AF"/>
                </a:solidFill>
              </a:defRPr>
            </a:pPr>
            <a:r>
              <a:t>• Pydantic v2 BaseModels</a:t>
            </a:r>
          </a:p>
          <a:p>
            <a:pPr>
              <a:spcBef>
                <a:spcPts val="300"/>
              </a:spcBef>
              <a:defRPr sz="1000">
                <a:solidFill>
                  <a:srgbClr val="9CA3AF"/>
                </a:solidFill>
              </a:defRPr>
            </a:pPr>
            <a:r>
              <a:t>• ThreatSeverity &amp; Status Enums</a:t>
            </a:r>
          </a:p>
          <a:p>
            <a:pPr>
              <a:spcBef>
                <a:spcPts val="300"/>
              </a:spcBef>
              <a:defRPr sz="1000">
                <a:solidFill>
                  <a:srgbClr val="9CA3AF"/>
                </a:solidFill>
              </a:defRPr>
            </a:pPr>
            <a:r>
              <a:t>• Strict float bounds (0.0 &lt;= conf &lt;= 1.0)</a:t>
            </a:r>
          </a:p>
          <a:p>
            <a:pPr>
              <a:spcBef>
                <a:spcPts val="300"/>
              </a:spcBef>
              <a:defRPr sz="1000">
                <a:solidFill>
                  <a:srgbClr val="9CA3AF"/>
                </a:solidFill>
              </a:defRPr>
            </a:pPr>
            <a:r>
              <a:t>• ThreatCreate &amp; ThreatUpdate DTOs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554480"/>
            <a:ext cx="2468880" cy="3291840"/>
          </a:xfrm>
          <a:prstGeom prst="roundRect">
            <a:avLst/>
          </a:prstGeom>
          <a:solidFill>
            <a:srgbClr val="13192B"/>
          </a:solidFill>
          <a:ln>
            <a:solidFill>
              <a:srgbClr val="26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554480"/>
            <a:ext cx="246888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73736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ORM &amp; Storage Layer</a:t>
            </a:r>
          </a:p>
          <a:p>
            <a:pPr>
              <a:spcAft>
                <a:spcPts val="800"/>
              </a:spcAft>
              <a:defRPr sz="1000">
                <a:solidFill>
                  <a:srgbClr val="06B6D4"/>
                </a:solidFill>
                <a:latin typeface="Courier New"/>
              </a:defRPr>
            </a:pPr>
            <a:r>
              <a:t>backend/models.py &amp; db.py</a:t>
            </a:r>
          </a:p>
          <a:p>
            <a:pPr>
              <a:spcBef>
                <a:spcPts val="300"/>
              </a:spcBef>
              <a:defRPr sz="1000">
                <a:solidFill>
                  <a:srgbClr val="9CA3AF"/>
                </a:solidFill>
              </a:defRPr>
            </a:pPr>
            <a:r>
              <a:t>• SQLAlchemy Declarative Engine</a:t>
            </a:r>
          </a:p>
          <a:p>
            <a:pPr>
              <a:spcBef>
                <a:spcPts val="300"/>
              </a:spcBef>
              <a:defRPr sz="1000">
                <a:solidFill>
                  <a:srgbClr val="9CA3AF"/>
                </a:solidFill>
              </a:defRPr>
            </a:pPr>
            <a:r>
              <a:t>• Indexed queries (source_ip, type)</a:t>
            </a:r>
          </a:p>
          <a:p>
            <a:pPr>
              <a:spcBef>
                <a:spcPts val="300"/>
              </a:spcBef>
              <a:defRPr sz="1000">
                <a:solidFill>
                  <a:srgbClr val="9CA3AF"/>
                </a:solidFill>
              </a:defRPr>
            </a:pPr>
            <a:r>
              <a:t>• Auto-timestamped func.now()</a:t>
            </a:r>
          </a:p>
          <a:p>
            <a:pPr>
              <a:spcBef>
                <a:spcPts val="300"/>
              </a:spcBef>
              <a:defRPr sz="1000">
                <a:solidFill>
                  <a:srgbClr val="9CA3AF"/>
                </a:solidFill>
              </a:defRPr>
            </a:pPr>
            <a:r>
              <a:t>• Easy SQLite -&gt; PostgreSQL swap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88552" y="1554480"/>
            <a:ext cx="2468880" cy="3291840"/>
          </a:xfrm>
          <a:prstGeom prst="roundRect">
            <a:avLst/>
          </a:prstGeom>
          <a:solidFill>
            <a:srgbClr val="13192B"/>
          </a:solidFill>
          <a:ln>
            <a:solidFill>
              <a:srgbClr val="26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88552" y="1554480"/>
            <a:ext cx="2468880" cy="73152"/>
          </a:xfrm>
          <a:prstGeom prst="rect">
            <a:avLst/>
          </a:prstGeom>
          <a:solidFill>
            <a:srgbClr val="EEC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25712" y="173736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Threat Router &amp; CRUD</a:t>
            </a:r>
          </a:p>
          <a:p>
            <a:pPr>
              <a:spcAft>
                <a:spcPts val="800"/>
              </a:spcAft>
              <a:defRPr sz="1000">
                <a:solidFill>
                  <a:srgbClr val="EECC8C"/>
                </a:solidFill>
                <a:latin typeface="Courier New"/>
              </a:defRPr>
            </a:pPr>
            <a:r>
              <a:t>backend/routers/threats.py</a:t>
            </a:r>
          </a:p>
          <a:p>
            <a:pPr>
              <a:spcBef>
                <a:spcPts val="300"/>
              </a:spcBef>
              <a:defRPr sz="1000">
                <a:solidFill>
                  <a:srgbClr val="9CA3AF"/>
                </a:solidFill>
              </a:defRPr>
            </a:pPr>
            <a:r>
              <a:t>• High-throughput POST / threats</a:t>
            </a:r>
          </a:p>
          <a:p>
            <a:pPr>
              <a:spcBef>
                <a:spcPts val="300"/>
              </a:spcBef>
              <a:defRPr sz="1000">
                <a:solidFill>
                  <a:srgbClr val="9CA3AF"/>
                </a:solidFill>
              </a:defRPr>
            </a:pPr>
            <a:r>
              <a:t>• Filtered GET (severity, status)</a:t>
            </a:r>
          </a:p>
          <a:p>
            <a:pPr>
              <a:spcBef>
                <a:spcPts val="300"/>
              </a:spcBef>
              <a:defRPr sz="1000">
                <a:solidFill>
                  <a:srgbClr val="9CA3AF"/>
                </a:solidFill>
              </a:defRPr>
            </a:pPr>
            <a:r>
              <a:t>• PUT update &amp; AI remediation notes</a:t>
            </a:r>
          </a:p>
          <a:p>
            <a:pPr>
              <a:spcBef>
                <a:spcPts val="300"/>
              </a:spcBef>
              <a:defRPr sz="1000">
                <a:solidFill>
                  <a:srgbClr val="9CA3AF"/>
                </a:solidFill>
              </a:defRPr>
            </a:pPr>
            <a:r>
              <a:t>• DELETE /threats/{id} endpoint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120640"/>
            <a:ext cx="10728655" cy="1188720"/>
          </a:xfrm>
          <a:prstGeom prst="roundRect">
            <a:avLst/>
          </a:prstGeom>
          <a:solidFill>
            <a:srgbClr val="121A2D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FRONTEND INTEGRATION &amp; CLIENT-SIDE ARCHITECTURE (Vite + React 18)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• Reverse Proxy Pipeline: frontend/vite.config.js seamlessly forwards /api and /health to backend:8000 without CORS penalty.</a:t>
            </a:r>
            <a:br/>
            <a:r>
              <a:t>• State Management &amp; Polling: Reactive hooks in App.jsx fetch updates every 15s, supporting immediate Hot-Module Reloading and optimistic UI updates.</a:t>
            </a:r>
            <a:br/>
            <a:r>
              <a:t>• Resilience: Fully decoupled architecture allows independent microservice scaling on Kubernetes/OpenShift.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PLATFORM INNOVATION &amp; SOC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Core Capabilities &amp; Technological Innovations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6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2103120"/>
          </a:xfrm>
          <a:prstGeom prst="roundRect">
            <a:avLst/>
          </a:prstGeom>
          <a:solidFill>
            <a:srgbClr val="13192B"/>
          </a:solidFill>
          <a:ln>
            <a:solidFill>
              <a:srgbClr val="26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737360"/>
            <a:ext cx="2011680" cy="274320"/>
          </a:xfrm>
          <a:prstGeom prst="roundRect">
            <a:avLst/>
          </a:prstGeom>
          <a:solidFill>
            <a:srgbClr val="1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EECC8C"/>
                </a:solidFill>
              </a:defRPr>
            </a:pPr>
            <a:r>
              <a:t>PREDICTIVE SEVERITY INDEX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Real-Time 0-1000 Risk Gauge</a:t>
            </a:r>
          </a:p>
          <a:p>
            <a:pPr>
              <a:lnSpc>
                <a:spcPct val="130000"/>
              </a:lnSpc>
              <a:spcBef>
                <a:spcPts val="600"/>
              </a:spcBef>
              <a:defRPr sz="1100">
                <a:solidFill>
                  <a:srgbClr val="9CA3AF"/>
                </a:solidFill>
              </a:defRPr>
            </a:pPr>
            <a:r>
              <a:t>RiskScoreGauge.jsx dynamically scores cumulative enterprise exposure. Weighted algorithm (Critical=110, High=75, Med=35, Low=15) renders real-time geometric SVG tracking arcs with parametric needle telemetry.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2103120"/>
          </a:xfrm>
          <a:prstGeom prst="roundRect">
            <a:avLst/>
          </a:prstGeom>
          <a:solidFill>
            <a:srgbClr val="13192B"/>
          </a:solidFill>
          <a:ln>
            <a:solidFill>
              <a:srgbClr val="26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0" y="1737360"/>
            <a:ext cx="2011680" cy="274320"/>
          </a:xfrm>
          <a:prstGeom prst="roundRect">
            <a:avLst/>
          </a:prstGeom>
          <a:solidFill>
            <a:srgbClr val="1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A855F7"/>
                </a:solidFill>
              </a:defRPr>
            </a:pPr>
            <a:r>
              <a:t>HEURISTIC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Autonomous AI Analysis</a:t>
            </a:r>
          </a:p>
          <a:p>
            <a:pPr>
              <a:lnSpc>
                <a:spcPct val="130000"/>
              </a:lnSpc>
              <a:spcBef>
                <a:spcPts val="600"/>
              </a:spcBef>
              <a:defRPr sz="1100">
                <a:solidFill>
                  <a:srgbClr val="9CA3AF"/>
                </a:solidFill>
              </a:defRPr>
            </a:pPr>
            <a:r>
              <a:t>Backend ai_analysis and confidence_score (0.0 to 1.0) provide instant forensic context (e.g., Code Red IIS buffer overflow, Stuxnet SCADA exploits) empowering tier-1 analysts to act like senior forensic investigators.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13192B"/>
          </a:solidFill>
          <a:ln>
            <a:solidFill>
              <a:srgbClr val="26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4114800"/>
            <a:ext cx="2011680" cy="274320"/>
          </a:xfrm>
          <a:prstGeom prst="roundRect">
            <a:avLst/>
          </a:prstGeom>
          <a:solidFill>
            <a:srgbClr val="1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B6D4"/>
                </a:solidFill>
              </a:defRPr>
            </a:pPr>
            <a:r>
              <a:t>ZERO-TOUCH CONTAINMENT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8056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Sub-Second Remediation Flow</a:t>
            </a:r>
          </a:p>
          <a:p>
            <a:pPr>
              <a:lnSpc>
                <a:spcPct val="130000"/>
              </a:lnSpc>
              <a:spcBef>
                <a:spcPts val="600"/>
              </a:spcBef>
              <a:defRPr sz="1100">
                <a:solidFill>
                  <a:srgbClr val="9CA3AF"/>
                </a:solidFill>
              </a:defRPr>
            </a:pPr>
            <a:r>
              <a:t>1-Click &amp; automated mitigation via PUT /threats/{id}. Instantly dispatches firewall ingress blocks, quarantines infected device endpoints (e.g. crazyfish228, angryswan732), and records immutable resolved_at timestamps.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31920"/>
            <a:ext cx="5212080" cy="2103120"/>
          </a:xfrm>
          <a:prstGeom prst="roundRect">
            <a:avLst/>
          </a:prstGeom>
          <a:solidFill>
            <a:srgbClr val="13192B"/>
          </a:solidFill>
          <a:ln>
            <a:solidFill>
              <a:srgbClr val="26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4114800"/>
            <a:ext cx="2011680" cy="274320"/>
          </a:xfrm>
          <a:prstGeom prst="roundRect">
            <a:avLst/>
          </a:prstGeom>
          <a:solidFill>
            <a:srgbClr val="1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HOLISTIC SOC TELEMETRY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48056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Multi-Vector Analytics Deck</a:t>
            </a:r>
          </a:p>
          <a:p>
            <a:pPr>
              <a:lnSpc>
                <a:spcPct val="130000"/>
              </a:lnSpc>
              <a:spcBef>
                <a:spcPts val="600"/>
              </a:spcBef>
              <a:defRPr sz="1100">
                <a:solidFill>
                  <a:srgbClr val="9CA3AF"/>
                </a:solidFill>
              </a:defRPr>
            </a:pPr>
            <a:r>
              <a:t>Spline wave frequency charts (ThreatSummaryChart.jsx) correlate historical intrusion trends, while donut distribution models isolate malware families (ILOVEYOU, Melissa, MyDoom, Sasser) by target file formats.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ENTERPRISE INTEGRATION &amp; IBM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Strategic Synergy: Unlocking Enterprise Value with IBM Technology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6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1051560"/>
          </a:xfrm>
          <a:prstGeom prst="roundRect">
            <a:avLst/>
          </a:prstGeom>
          <a:solidFill>
            <a:srgbClr val="13192B"/>
          </a:solidFill>
          <a:ln>
            <a:solidFill>
              <a:srgbClr val="26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91440" cy="105156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72768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IBM QRadar SIEM &amp; SOAR Integration</a:t>
            </a:r>
          </a:p>
          <a:p>
            <a:pPr>
              <a:spcBef>
                <a:spcPts val="300"/>
              </a:spcBef>
              <a:defRPr sz="1050">
                <a:solidFill>
                  <a:srgbClr val="9CA3AF"/>
                </a:solidFill>
              </a:defRPr>
            </a:pPr>
            <a:r>
              <a:t>Shield-AI serves as an autonomous first-line sensor and localized remediation agent. Telemetry seamlessly exports into IBM QRadar for correlation across global enterprise log pipelines, triggering automated SOAR playbooks.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1783080"/>
            <a:ext cx="2011680" cy="411480"/>
          </a:xfrm>
          <a:prstGeom prst="roundRect">
            <a:avLst/>
          </a:prstGeom>
          <a:solidFill>
            <a:srgbClr val="1C243C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SIEM/SOAR Sensor Node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06040"/>
            <a:ext cx="10728655" cy="1051560"/>
          </a:xfrm>
          <a:prstGeom prst="roundRect">
            <a:avLst/>
          </a:prstGeom>
          <a:solidFill>
            <a:srgbClr val="13192B"/>
          </a:solidFill>
          <a:ln>
            <a:solidFill>
              <a:srgbClr val="26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91440" cy="10515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715768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IBM watsonx.ai Forensics &amp; Policy Agent</a:t>
            </a:r>
          </a:p>
          <a:p>
            <a:pPr>
              <a:spcBef>
                <a:spcPts val="300"/>
              </a:spcBef>
              <a:defRPr sz="1050">
                <a:solidFill>
                  <a:srgbClr val="9CA3AF"/>
                </a:solidFill>
              </a:defRPr>
            </a:pPr>
            <a:r>
              <a:t>The backend ai_analysis engine is architected to plug directly into watsonx.ai Granite models to generate automated executive summaries, MITRE ATT&amp;CK mapping, and plain-language regulatory compliance disclosures.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2926080"/>
            <a:ext cx="2011680" cy="411480"/>
          </a:xfrm>
          <a:prstGeom prst="roundRect">
            <a:avLst/>
          </a:prstGeom>
          <a:solidFill>
            <a:srgbClr val="1C243C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watsonx Governance &amp; LLM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40"/>
            <a:ext cx="10728655" cy="1051560"/>
          </a:xfrm>
          <a:prstGeom prst="roundRect">
            <a:avLst/>
          </a:prstGeom>
          <a:solidFill>
            <a:srgbClr val="13192B"/>
          </a:solidFill>
          <a:ln>
            <a:solidFill>
              <a:srgbClr val="26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749040"/>
            <a:ext cx="91440" cy="105156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858768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Red Hat OpenShift &amp; Hybrid Cloud Deployment</a:t>
            </a:r>
          </a:p>
          <a:p>
            <a:pPr>
              <a:spcBef>
                <a:spcPts val="300"/>
              </a:spcBef>
              <a:defRPr sz="1050">
                <a:solidFill>
                  <a:srgbClr val="9CA3AF"/>
                </a:solidFill>
              </a:defRPr>
            </a:pPr>
            <a:r>
              <a:t>The modular RESTful microservice architecture packages into standard OCI containers. Deployable with high availability across Red Hat OpenShift, IBM Cloud Satellite, and hybrid multi-cloud on-premise enclaves.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4069080"/>
            <a:ext cx="2011680" cy="411480"/>
          </a:xfrm>
          <a:prstGeom prst="roundRect">
            <a:avLst/>
          </a:prstGeom>
          <a:solidFill>
            <a:srgbClr val="1C243C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Enterprise Hybrid Cloud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892040"/>
            <a:ext cx="10728655" cy="1051560"/>
          </a:xfrm>
          <a:prstGeom prst="roundRect">
            <a:avLst/>
          </a:prstGeom>
          <a:solidFill>
            <a:srgbClr val="13192B"/>
          </a:solidFill>
          <a:ln>
            <a:solidFill>
              <a:srgbClr val="26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892040"/>
            <a:ext cx="91440" cy="10515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001768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Zero-Trust Architecture (NIST 800-207)</a:t>
            </a:r>
          </a:p>
          <a:p>
            <a:pPr>
              <a:spcBef>
                <a:spcPts val="300"/>
              </a:spcBef>
              <a:defRPr sz="1050">
                <a:solidFill>
                  <a:srgbClr val="9CA3AF"/>
                </a:solidFill>
              </a:defRPr>
            </a:pPr>
            <a:r>
              <a:t>Strict endpoint segmentation and source/destination IP containment enforce continuous verification. Integrates with IBM Security Verify to revoke compromised sessions and force immediate multi-factor re-authentication.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5212080"/>
            <a:ext cx="2011680" cy="411480"/>
          </a:xfrm>
          <a:prstGeom prst="roundRect">
            <a:avLst/>
          </a:prstGeom>
          <a:solidFill>
            <a:srgbClr val="1C243C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Continuous Zero Trust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STRATEGIC VISION &amp;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Business Impact, Measurable ROI &amp; Enterprise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6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4114800" cy="1143000"/>
          </a:xfrm>
          <a:prstGeom prst="roundRect">
            <a:avLst/>
          </a:prstGeom>
          <a:solidFill>
            <a:srgbClr val="13192B"/>
          </a:solidFill>
          <a:ln>
            <a:solidFill>
              <a:srgbClr val="26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B6D4"/>
                </a:solidFill>
              </a:defRPr>
            </a:pPr>
            <a:r>
              <a:t>85%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</a:defRPr>
            </a:pPr>
            <a:r>
              <a:t>Reduction in MTTD</a:t>
            </a:r>
          </a:p>
          <a:p>
            <a:pPr>
              <a:spcBef>
                <a:spcPts val="200"/>
              </a:spcBef>
              <a:defRPr sz="950">
                <a:solidFill>
                  <a:srgbClr val="9CA3AF"/>
                </a:solidFill>
              </a:defRPr>
            </a:pPr>
            <a:r>
              <a:t>Autonomous heuristic matching reduces detection from hours to milliseconds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4114800" cy="1143000"/>
          </a:xfrm>
          <a:prstGeom prst="roundRect">
            <a:avLst/>
          </a:prstGeom>
          <a:solidFill>
            <a:srgbClr val="13192B"/>
          </a:solidFill>
          <a:ln>
            <a:solidFill>
              <a:srgbClr val="26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44368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ECC8C"/>
                </a:solidFill>
              </a:defRPr>
            </a:pPr>
            <a:r>
              <a:t>70%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</a:defRPr>
            </a:pPr>
            <a:r>
              <a:t>Reduction in SOC Triage Burden</a:t>
            </a:r>
          </a:p>
          <a:p>
            <a:pPr>
              <a:spcBef>
                <a:spcPts val="200"/>
              </a:spcBef>
              <a:defRPr sz="950">
                <a:solidFill>
                  <a:srgbClr val="9CA3AF"/>
                </a:solidFill>
              </a:defRPr>
            </a:pPr>
            <a:r>
              <a:t>Automated threat classification filters out low-fidelity noise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4114800" cy="1143000"/>
          </a:xfrm>
          <a:prstGeom prst="roundRect">
            <a:avLst/>
          </a:prstGeom>
          <a:solidFill>
            <a:srgbClr val="13192B"/>
          </a:solidFill>
          <a:ln>
            <a:solidFill>
              <a:srgbClr val="26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24528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A855F7"/>
                </a:solidFill>
              </a:defRPr>
            </a:pPr>
            <a:r>
              <a:t>&lt; 1 sec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</a:defRPr>
            </a:pPr>
            <a:r>
              <a:t>Active Containment Latency</a:t>
            </a:r>
          </a:p>
          <a:p>
            <a:pPr>
              <a:spcBef>
                <a:spcPts val="200"/>
              </a:spcBef>
              <a:defRPr sz="950">
                <a:solidFill>
                  <a:srgbClr val="9CA3AF"/>
                </a:solidFill>
              </a:defRPr>
            </a:pPr>
            <a:r>
              <a:t>Direct REST mitigation API triggers host quarantine instantly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1554480"/>
            <a:ext cx="6339535" cy="3703320"/>
          </a:xfrm>
          <a:prstGeom prst="roundRect">
            <a:avLst/>
          </a:prstGeom>
          <a:solidFill>
            <a:srgbClr val="13192B"/>
          </a:solidFill>
          <a:ln>
            <a:solidFill>
              <a:srgbClr val="26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0" y="1737360"/>
            <a:ext cx="5760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ENTERPRISE STRATEGIC ROADMAP</a:t>
            </a:r>
          </a:p>
          <a:p>
            <a:pPr>
              <a:spcBef>
                <a:spcPts val="1000"/>
              </a:spcBef>
              <a:defRPr sz="1000" b="1">
                <a:solidFill>
                  <a:srgbClr val="06B6D4"/>
                </a:solidFill>
              </a:defRPr>
            </a:pPr>
            <a:r>
              <a:t>PHASE 1 (COMPLETED)</a:t>
            </a:r>
          </a:p>
          <a:p>
            <a:pPr>
              <a:defRPr sz="1150" b="1">
                <a:solidFill>
                  <a:srgbClr val="FFFFFF"/>
                </a:solidFill>
              </a:defRPr>
            </a:pPr>
            <a:r>
              <a:t>Core Autonomous Detection Engine &amp; SOC Dashboard</a:t>
            </a:r>
          </a:p>
          <a:p>
            <a:pPr>
              <a:spcBef>
                <a:spcPts val="200"/>
              </a:spcBef>
              <a:defRPr sz="950">
                <a:solidFill>
                  <a:srgbClr val="9CA3AF"/>
                </a:solidFill>
              </a:defRPr>
            </a:pPr>
            <a:r>
              <a:t>FastAPI modular monolith, dynamic risk gauge, live threat table, SQLite persistent ORM, and full CRUD telemetry pipeline.</a:t>
            </a:r>
          </a:p>
          <a:p>
            <a:pPr>
              <a:spcBef>
                <a:spcPts val="1000"/>
              </a:spcBef>
              <a:defRPr sz="1000" b="1">
                <a:solidFill>
                  <a:srgbClr val="EECC8C"/>
                </a:solidFill>
              </a:defRPr>
            </a:pPr>
            <a:r>
              <a:t>PHASE 2 (NEXT 90 DAYS)</a:t>
            </a:r>
          </a:p>
          <a:p>
            <a:pPr>
              <a:defRPr sz="1150" b="1">
                <a:solidFill>
                  <a:srgbClr val="FFFFFF"/>
                </a:solidFill>
              </a:defRPr>
            </a:pPr>
            <a:r>
              <a:t>IBM watsonx &amp; QRadar Integration</a:t>
            </a:r>
          </a:p>
          <a:p>
            <a:pPr>
              <a:spcBef>
                <a:spcPts val="200"/>
              </a:spcBef>
              <a:defRPr sz="950">
                <a:solidFill>
                  <a:srgbClr val="9CA3AF"/>
                </a:solidFill>
              </a:defRPr>
            </a:pPr>
            <a:r>
              <a:t>Bidirectional syslog/CEF streaming to QRadar; watsonx.ai automated root-cause synthesis and dynamic mitigation playbook execution.</a:t>
            </a:r>
          </a:p>
          <a:p>
            <a:pPr>
              <a:spcBef>
                <a:spcPts val="1000"/>
              </a:spcBef>
              <a:defRPr sz="1000" b="1">
                <a:solidFill>
                  <a:srgbClr val="A855F7"/>
                </a:solidFill>
              </a:defRPr>
            </a:pPr>
            <a:r>
              <a:t>PHASE 3 (SCALE OUT)</a:t>
            </a:r>
          </a:p>
          <a:p>
            <a:pPr>
              <a:defRPr sz="1150" b="1">
                <a:solidFill>
                  <a:srgbClr val="FFFFFF"/>
                </a:solidFill>
              </a:defRPr>
            </a:pPr>
            <a:r>
              <a:t>Distributed eBPF Mesh &amp; Self-Healing Kernel Defense</a:t>
            </a:r>
          </a:p>
          <a:p>
            <a:pPr>
              <a:spcBef>
                <a:spcPts val="200"/>
              </a:spcBef>
              <a:defRPr sz="950">
                <a:solidFill>
                  <a:srgbClr val="9CA3AF"/>
                </a:solidFill>
              </a:defRPr>
            </a:pPr>
            <a:r>
              <a:t>Zero-overhead Linux kernel packet inspection, autonomous zero-day process freezing, and multi-tenant cloud security orchestrator.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77840"/>
            <a:ext cx="10728655" cy="731520"/>
          </a:xfrm>
          <a:prstGeom prst="roundRect">
            <a:avLst/>
          </a:prstGeom>
          <a:solidFill>
            <a:srgbClr val="16203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CONCLUSION &amp; NEXT STEPS WITH IBM:</a:t>
            </a:r>
          </a:p>
          <a:p>
            <a:pPr>
              <a:spcBef>
                <a:spcPts val="200"/>
              </a:spcBef>
              <a:defRPr sz="1050">
                <a:solidFill>
                  <a:srgbClr val="FFFFFF"/>
                </a:solidFill>
              </a:defRPr>
            </a:pPr>
            <a:r>
              <a:t>Shield-AI is fully production-functional, test-validated, and primed for immediate proof-of-concept deployment within IBM Client Innovation Centers and Security Technology incubators.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